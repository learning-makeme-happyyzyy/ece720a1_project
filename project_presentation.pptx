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69" r:id="rId13"/>
    <p:sldId id="270" r:id="rId14"/>
    <p:sldId id="271" r:id="rId15"/>
    <p:sldId id="265" r:id="rId16"/>
    <p:sldId id="266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47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798830" y="523875"/>
            <a:ext cx="1866265" cy="3429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98830" y="866775"/>
            <a:ext cx="1866265" cy="1059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3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35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3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3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9.xml"/><Relationship Id="rId2" Type="http://schemas.openxmlformats.org/officeDocument/2006/relationships/image" Target="../media/image13.png"/><Relationship Id="rId1" Type="http://schemas.openxmlformats.org/officeDocument/2006/relationships/tags" Target="../tags/tag38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5495" y="4058285"/>
            <a:ext cx="3470275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latin typeface="Chalkduster" panose="03050602040202020205" charset="0"/>
                <a:cs typeface="Chalkduster" panose="03050602040202020205" charset="0"/>
              </a:rPr>
              <a:t>P</a:t>
            </a:r>
            <a:r>
              <a:rPr lang="en-US" altLang="zh-CN">
                <a:latin typeface="Chalkduster" panose="03050602040202020205" charset="0"/>
                <a:cs typeface="Chalkduster" panose="03050602040202020205" charset="0"/>
              </a:rPr>
              <a:t>resented by: Zhouyiyang Yang</a:t>
            </a:r>
            <a:endParaRPr lang="en-US" altLang="zh-CN">
              <a:latin typeface="Chalkduster" panose="03050602040202020205" charset="0"/>
              <a:cs typeface="Chalkduster" panose="03050602040202020205" charset="0"/>
            </a:endParaRPr>
          </a:p>
        </p:txBody>
      </p:sp>
      <p:sp>
        <p:nvSpPr>
          <p:cNvPr id="9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67410" y="1530985"/>
            <a:ext cx="12622530" cy="17272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 fontScale="8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en-US" altLang="zh-CN" sz="4445">
                <a:solidFill>
                  <a:schemeClr val="accent1"/>
                </a:solidFill>
                <a:latin typeface="Baloo Bhaijaan" panose="03080902040302020200" charset="0"/>
                <a:cs typeface="Baloo Bhaijaan" panose="03080902040302020200" charset="0"/>
              </a:rPr>
              <a:t>      An Empirical Replication and Extension of Model</a:t>
            </a:r>
            <a:r>
              <a:rPr lang="en-CA" sz="4445">
                <a:solidFill>
                  <a:schemeClr val="accent1"/>
                </a:solidFill>
                <a:latin typeface="Baloo Bhaijaan" panose="03080902040302020200" charset="0"/>
                <a:cs typeface="Baloo Bhaijaan" panose="03080902040302020200" charset="0"/>
              </a:rPr>
              <a:t>: </a:t>
            </a:r>
            <a:endParaRPr lang="en-CA" sz="4445">
              <a:solidFill>
                <a:schemeClr val="accent1"/>
              </a:solidFill>
              <a:latin typeface="Baloo Bhaijaan" panose="03080902040302020200" charset="0"/>
              <a:cs typeface="Baloo Bhaijaan" panose="03080902040302020200" charset="0"/>
            </a:endParaRPr>
          </a:p>
          <a:p>
            <a:r>
              <a:rPr lang="en-US" altLang="zh-CN" sz="4445">
                <a:solidFill>
                  <a:schemeClr val="accent1"/>
                </a:solidFill>
                <a:latin typeface="Baloo Bhaijaan" panose="03080902040302020200" charset="0"/>
                <a:cs typeface="Baloo Bhaijaan" panose="03080902040302020200" charset="0"/>
              </a:rPr>
              <a:t>Comparison Study on Predicting Co-Occurring Test</a:t>
            </a:r>
            <a:r>
              <a:rPr lang="en-CA" sz="4445">
                <a:solidFill>
                  <a:schemeClr val="accent1"/>
                </a:solidFill>
                <a:latin typeface="Baloo Bhaijaan" panose="03080902040302020200" charset="0"/>
                <a:cs typeface="Baloo Bhaijaan" panose="03080902040302020200" charset="0"/>
              </a:rPr>
              <a:t> </a:t>
            </a:r>
            <a:endParaRPr lang="en-CA" sz="4445">
              <a:solidFill>
                <a:schemeClr val="accent1"/>
              </a:solidFill>
              <a:latin typeface="Baloo Bhaijaan" panose="03080902040302020200" charset="0"/>
              <a:cs typeface="Baloo Bhaijaan" panose="03080902040302020200" charset="0"/>
            </a:endParaRPr>
          </a:p>
          <a:p>
            <a:r>
              <a:rPr lang="en-CA" sz="4445">
                <a:solidFill>
                  <a:schemeClr val="accent1"/>
                </a:solidFill>
                <a:latin typeface="Baloo Bhaijaan" panose="03080902040302020200" charset="0"/>
                <a:cs typeface="Baloo Bhaijaan" panose="03080902040302020200" charset="0"/>
              </a:rPr>
              <a:t>                  </a:t>
            </a:r>
            <a:r>
              <a:rPr lang="en-US" altLang="zh-CN" sz="4445">
                <a:solidFill>
                  <a:schemeClr val="accent1"/>
                </a:solidFill>
                <a:latin typeface="Baloo Bhaijaan" panose="03080902040302020200" charset="0"/>
                <a:cs typeface="Baloo Bhaijaan" panose="03080902040302020200" charset="0"/>
              </a:rPr>
              <a:t>and Source Code Refactoring</a:t>
            </a:r>
            <a:endParaRPr lang="en-US" altLang="zh-CN" sz="4445">
              <a:solidFill>
                <a:schemeClr val="accent1"/>
              </a:solidFill>
              <a:latin typeface="Baloo Bhaijaan" panose="03080902040302020200" charset="0"/>
              <a:cs typeface="Baloo Bhaijaan" panose="03080902040302020200" charset="0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  <p:bldLst>
      <p:bldP spid="4" grpId="1" animBg="1" build="p"/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>
                <a:sym typeface="+mn-ea"/>
              </a:rPr>
              <a:t>Background &amp; Motivation</a:t>
            </a:r>
            <a:endParaRPr lang="en-US" altLang="zh-CN">
              <a:latin typeface="Baloo Bhaijaan" panose="03080902040302020200" charset="0"/>
              <a:cs typeface="Baloo Bhaijaan" panose="03080902040302020200" charset="0"/>
            </a:endParaRPr>
          </a:p>
        </p:txBody>
      </p:sp>
      <p:sp>
        <p:nvSpPr>
          <p:cNvPr id="8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3250" y="1165860"/>
            <a:ext cx="4564380" cy="1615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ym typeface="+mn-ea"/>
              </a:rPr>
              <a:t>• Software requires continuous refactoring to maintain quality.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占位符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786245" y="1165860"/>
            <a:ext cx="4954270" cy="1615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ym typeface="+mn-ea"/>
              </a:rPr>
              <a:t>• Source code refactoring is well-studied, but test code refactoring is often overlooked.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4805" y="4482465"/>
            <a:ext cx="12134215" cy="1826260"/>
          </a:xfrm>
          <a:prstGeom prst="rect">
            <a:avLst/>
          </a:prstGeom>
        </p:spPr>
        <p:txBody>
          <a:bodyPr wrap="square">
            <a:noAutofit/>
          </a:bodyPr>
          <a:p>
            <a:endParaRPr lang="zh-CN" altLang="en-US" sz="200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r>
              <a:rPr sz="2000">
                <a:sym typeface="+mn-ea"/>
              </a:rPr>
              <a:t>Key finding</a:t>
            </a:r>
            <a:r>
              <a:rPr lang="en-US" sz="2000">
                <a:sym typeface="+mn-ea"/>
              </a:rPr>
              <a:t>s</a:t>
            </a:r>
            <a:r>
              <a:rPr sz="2000">
                <a:sym typeface="+mn-ea"/>
              </a:rPr>
              <a:t> from Nagy &amp; Abdalkareem (2022):</a:t>
            </a:r>
            <a:r>
              <a:rPr lang="en-US" sz="2000">
                <a:sym typeface="+mn-ea"/>
              </a:rPr>
              <a:t> </a:t>
            </a:r>
            <a:endParaRPr sz="2000">
              <a:sym typeface="+mn-ea"/>
            </a:endParaRPr>
          </a:p>
          <a:p>
            <a:r>
              <a:rPr sz="2000">
                <a:sym typeface="+mn-ea"/>
              </a:rPr>
              <a:t>• 17.9% of refactoring commits are co-occurring (both test and source code).</a:t>
            </a:r>
            <a:endParaRPr sz="2000">
              <a:sym typeface="+mn-ea"/>
            </a:endParaRPr>
          </a:p>
          <a:p>
            <a:r>
              <a:rPr sz="2000">
                <a:sym typeface="+mn-ea"/>
              </a:rPr>
              <a:t>• This is more than double the 8.2% of test-only refactoring commits.</a:t>
            </a:r>
            <a:endParaRPr sz="2000">
              <a:sym typeface="+mn-ea"/>
            </a:endParaRPr>
          </a:p>
          <a:p>
            <a:endParaRPr sz="2000">
              <a:sym typeface="+mn-ea"/>
            </a:endParaRPr>
          </a:p>
          <a:p>
            <a:r>
              <a:rPr sz="2000">
                <a:sym typeface="+mn-ea"/>
              </a:rPr>
              <a:t>Motivation: Understanding and predicting this co-occurrence can lead to smarter developer tools that proactively suggest test refactoring.</a:t>
            </a:r>
            <a:endParaRPr sz="2000">
              <a:sym typeface="+mn-ea"/>
            </a:endParaRPr>
          </a:p>
          <a:p>
            <a:endParaRPr lang="zh-CN" altLang="en-US" sz="200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315" y="2953385"/>
            <a:ext cx="4543425" cy="1752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5" y="3128645"/>
            <a:ext cx="5984875" cy="120205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  <p:bldP spid="8" grpId="1" animBg="1" build="p"/>
      <p:bldP spid="9" grpId="1" animBg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>
                <a:sym typeface="+mn-ea"/>
              </a:rPr>
              <a:t>Original Study and Research Gap</a:t>
            </a:r>
            <a:endParaRPr lang="en-US" altLang="zh-CN">
              <a:latin typeface="Baloo Bhaijaan" panose="03080902040302020200" charset="0"/>
              <a:cs typeface="Baloo Bhaijaan" panose="03080902040302020200" charset="0"/>
            </a:endParaRPr>
          </a:p>
        </p:txBody>
      </p:sp>
      <p:sp>
        <p:nvSpPr>
          <p:cNvPr id="8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8500" y="1673860"/>
            <a:ext cx="4660900" cy="1615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 lnSpcReduction="20000"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ym typeface="+mn-ea"/>
              </a:rPr>
              <a:t>• RQ1: Empirical study on frequency and types of co-occurring refactorings.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占位符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792595" y="1673860"/>
            <a:ext cx="5011420" cy="16344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000">
              <a:sym typeface="+mn-ea"/>
            </a:endParaRPr>
          </a:p>
          <a:p>
            <a:r>
              <a:rPr sz="2000">
                <a:sym typeface="+mn-ea"/>
              </a:rPr>
              <a:t>• RQ2: Used a Random Forest model to predict co-occurrence.</a:t>
            </a:r>
            <a:endParaRPr sz="2000">
              <a:sym typeface="+mn-ea"/>
            </a:endParaRPr>
          </a:p>
          <a:p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3536315"/>
            <a:ext cx="12134215" cy="304800"/>
          </a:xfrm>
          <a:prstGeom prst="rect">
            <a:avLst/>
          </a:prstGeom>
        </p:spPr>
        <p:txBody>
          <a:bodyPr wrap="square">
            <a:noAutofit/>
          </a:bodyPr>
          <a:p>
            <a:endParaRPr lang="zh-CN" altLang="en-US" sz="200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r>
              <a:rPr lang="en-US" sz="2000" b="1">
                <a:sym typeface="+mn-ea"/>
              </a:rPr>
              <a:t>Limitations:</a:t>
            </a:r>
            <a:endParaRPr lang="en-US" sz="2000" b="1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8500" y="104711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000" b="1">
                <a:sym typeface="+mn-ea"/>
              </a:rPr>
              <a:t>What the original paper did:</a:t>
            </a:r>
            <a:endParaRPr lang="zh-CN" altLang="en-US" sz="2000" b="1">
              <a:sym typeface="+mn-ea"/>
            </a:endParaRPr>
          </a:p>
        </p:txBody>
      </p:sp>
      <p:sp>
        <p:nvSpPr>
          <p:cNvPr id="4" name="文本占位符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25500" y="4533265"/>
            <a:ext cx="4660900" cy="1615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 lnSpcReduction="20000"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ym typeface="+mn-ea"/>
              </a:rPr>
              <a:t>• Model Singularity: Only explored Random Forest.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794500" y="4533265"/>
            <a:ext cx="4660900" cy="1615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 lnSpcReduction="20000"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ym typeface="+mn-ea"/>
              </a:rPr>
              <a:t>• Limited Interpretability: Lack of explanation for model decisions.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  <p:bldP spid="8" grpId="1" animBg="1" build="p"/>
      <p:bldP spid="9" grpId="1" animBg="1" build="p"/>
      <p:bldP spid="4" grpId="1" animBg="1" build="p"/>
      <p:bldP spid="5" grpId="1" animBg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>
                <a:sym typeface="+mn-ea"/>
              </a:rPr>
              <a:t>Research Objectives &amp; Questions</a:t>
            </a:r>
            <a:endParaRPr lang="en-US" altLang="zh-CN">
              <a:latin typeface="Baloo Bhaijaan" panose="03080902040302020200" charset="0"/>
              <a:cs typeface="Baloo Bhaijaan" panose="030809020403020202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4805" y="4658360"/>
            <a:ext cx="12134215" cy="19716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sz="2000" b="1">
                <a:sym typeface="+mn-ea"/>
              </a:rPr>
              <a:t>Research Questions:</a:t>
            </a:r>
            <a:endParaRPr sz="2000" b="1">
              <a:sym typeface="+mn-ea"/>
            </a:endParaRPr>
          </a:p>
          <a:p>
            <a:r>
              <a:rPr sz="2000" b="1">
                <a:sym typeface="+mn-ea"/>
              </a:rPr>
              <a:t>• RQ1 (Replication): Can we replicate the original study's findings on co-occurring refactorings?</a:t>
            </a:r>
            <a:endParaRPr sz="2000" b="1">
              <a:sym typeface="+mn-ea"/>
            </a:endParaRPr>
          </a:p>
          <a:p>
            <a:r>
              <a:rPr sz="2000" b="1">
                <a:sym typeface="+mn-ea"/>
              </a:rPr>
              <a:t>• RQ2 (Replication &amp; Extension):</a:t>
            </a:r>
            <a:endParaRPr sz="2000" b="1">
              <a:sym typeface="+mn-ea"/>
            </a:endParaRPr>
          </a:p>
          <a:p>
            <a:r>
              <a:rPr sz="2000" b="1">
                <a:sym typeface="+mn-ea"/>
              </a:rPr>
              <a:t>   – Replication: Can we replicate the Random Forest baseline?</a:t>
            </a:r>
            <a:endParaRPr sz="2000" b="1">
              <a:sym typeface="+mn-ea"/>
            </a:endParaRPr>
          </a:p>
          <a:p>
            <a:r>
              <a:rPr sz="2000" b="1">
                <a:sym typeface="+mn-ea"/>
              </a:rPr>
              <a:t>   – Extension: Can </a:t>
            </a:r>
            <a:r>
              <a:rPr lang="en-US" sz="2000" b="1">
                <a:sym typeface="+mn-ea"/>
              </a:rPr>
              <a:t>XGBoost</a:t>
            </a:r>
            <a:r>
              <a:rPr sz="2000" b="1">
                <a:sym typeface="+mn-ea"/>
              </a:rPr>
              <a:t> outperform Random Forest?</a:t>
            </a:r>
            <a:endParaRPr sz="2000" b="1">
              <a:sym typeface="+mn-ea"/>
            </a:endParaRPr>
          </a:p>
          <a:p>
            <a:r>
              <a:rPr sz="2000" b="1">
                <a:sym typeface="+mn-ea"/>
              </a:rPr>
              <a:t>   – Extension: Can </a:t>
            </a:r>
            <a:r>
              <a:rPr lang="en-US" sz="2000" b="1">
                <a:sym typeface="+mn-ea"/>
              </a:rPr>
              <a:t>SHAP Analysis</a:t>
            </a:r>
            <a:r>
              <a:rPr sz="2000" b="1">
                <a:sym typeface="+mn-ea"/>
              </a:rPr>
              <a:t> identify key predictive features?</a:t>
            </a:r>
            <a:r>
              <a:rPr lang="en-US" sz="2000" b="1">
                <a:sym typeface="+mn-ea"/>
              </a:rPr>
              <a:t> Any difference with original Gini analysis?</a:t>
            </a:r>
            <a:endParaRPr lang="en-US" sz="2000" b="1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8500" y="1047115"/>
            <a:ext cx="1057402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000" b="1">
                <a:sym typeface="+mn-ea"/>
              </a:rPr>
              <a:t>Overall Goal: To provide a more comprehensive and interpretable model analysis for predicting co-occurring refactoring through replication and extension.</a:t>
            </a:r>
            <a:endParaRPr lang="zh-CN" altLang="en-US" sz="2000" b="1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80" y="1872615"/>
            <a:ext cx="4657725" cy="2667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105" y="2218055"/>
            <a:ext cx="5819775" cy="17430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en-US" altLang="zh-CN">
                <a:sym typeface="+mn-ea"/>
              </a:rPr>
              <a:t>Research P</a:t>
            </a:r>
            <a:r>
              <a:rPr lang="en-US" altLang="zh-CN">
                <a:sym typeface="+mn-ea"/>
              </a:rPr>
              <a:t>hases</a:t>
            </a:r>
            <a:endParaRPr lang="en-US" altLang="zh-CN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3870" y="1409065"/>
            <a:ext cx="10097770" cy="429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800" b="1">
                <a:sym typeface="+mn-ea"/>
              </a:rPr>
              <a:t>Phase 1: Replication</a:t>
            </a:r>
            <a:endParaRPr sz="2800" b="1">
              <a:sym typeface="+mn-ea"/>
            </a:endParaRPr>
          </a:p>
          <a:p>
            <a:r>
              <a:rPr sz="2800" b="1">
                <a:sym typeface="+mn-ea"/>
              </a:rPr>
              <a:t>•</a:t>
            </a:r>
            <a:r>
              <a:rPr sz="2800" b="1">
                <a:sym typeface="+mn-ea"/>
              </a:rPr>
              <a:t> Data Loading &amp; Preprocessing</a:t>
            </a:r>
            <a:endParaRPr sz="2800" b="1">
              <a:sym typeface="+mn-ea"/>
            </a:endParaRPr>
          </a:p>
          <a:p>
            <a:r>
              <a:rPr sz="2800" b="1">
                <a:sym typeface="+mn-ea"/>
              </a:rPr>
              <a:t>•</a:t>
            </a:r>
            <a:r>
              <a:rPr lang="en-US" sz="2800" b="1">
                <a:sym typeface="+mn-ea"/>
              </a:rPr>
              <a:t> </a:t>
            </a:r>
            <a:r>
              <a:rPr sz="2800" b="1">
                <a:sym typeface="+mn-ea"/>
              </a:rPr>
              <a:t>Replicate RQ1 (Descriptive Statistics)</a:t>
            </a:r>
            <a:endParaRPr sz="2800" b="1">
              <a:sym typeface="+mn-ea"/>
            </a:endParaRPr>
          </a:p>
          <a:p>
            <a:r>
              <a:rPr sz="2800" b="1">
                <a:sym typeface="+mn-ea"/>
              </a:rPr>
              <a:t>•</a:t>
            </a:r>
            <a:r>
              <a:rPr sz="2800" b="1">
                <a:sym typeface="+mn-ea"/>
              </a:rPr>
              <a:t> Replicate RQ2 (Random Forest Baseline)</a:t>
            </a:r>
            <a:endParaRPr sz="2800" b="1">
              <a:sym typeface="+mn-ea"/>
            </a:endParaRPr>
          </a:p>
          <a:p>
            <a:endParaRPr lang="zh-CN" altLang="en-US" sz="2800" b="1">
              <a:sym typeface="+mn-ea"/>
            </a:endParaRPr>
          </a:p>
          <a:p>
            <a:endParaRPr lang="zh-CN" altLang="en-US" sz="2800" b="1">
              <a:sym typeface="+mn-ea"/>
            </a:endParaRPr>
          </a:p>
          <a:p>
            <a:r>
              <a:rPr sz="2800" b="1">
                <a:sym typeface="+mn-ea"/>
              </a:rPr>
              <a:t>Phase 2: Extension</a:t>
            </a:r>
            <a:endParaRPr sz="2800" b="1">
              <a:sym typeface="+mn-ea"/>
            </a:endParaRPr>
          </a:p>
          <a:p>
            <a:r>
              <a:rPr sz="2800" b="1">
                <a:sym typeface="+mn-ea"/>
              </a:rPr>
              <a:t>•</a:t>
            </a:r>
            <a:r>
              <a:rPr lang="en-US" sz="2800" b="1">
                <a:sym typeface="+mn-ea"/>
              </a:rPr>
              <a:t> </a:t>
            </a:r>
            <a:r>
              <a:rPr sz="2800" b="1">
                <a:sym typeface="+mn-ea"/>
              </a:rPr>
              <a:t>Train &amp; Compare XGBoost</a:t>
            </a:r>
            <a:r>
              <a:rPr lang="en-US" sz="2800" b="1">
                <a:sym typeface="+mn-ea"/>
              </a:rPr>
              <a:t> and RF</a:t>
            </a:r>
            <a:endParaRPr sz="2800" b="1">
              <a:sym typeface="+mn-ea"/>
            </a:endParaRPr>
          </a:p>
          <a:p>
            <a:r>
              <a:rPr sz="2800" b="1">
                <a:sym typeface="+mn-ea"/>
              </a:rPr>
              <a:t>• </a:t>
            </a:r>
            <a:r>
              <a:rPr lang="en-US" sz="2800" b="1">
                <a:sym typeface="+mn-ea"/>
              </a:rPr>
              <a:t>SHAP Analysis for feature importance</a:t>
            </a:r>
            <a:endParaRPr sz="2800" b="1">
              <a:sym typeface="+mn-ea"/>
            </a:endParaRPr>
          </a:p>
          <a:p>
            <a:endParaRPr lang="zh-CN" altLang="en-US" sz="2800" b="1">
              <a:sym typeface="+mn-ea"/>
            </a:endParaRPr>
          </a:p>
          <a:p>
            <a:endParaRPr lang="zh-CN" altLang="en-US" sz="2800" b="1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en-US" altLang="zh-CN">
                <a:cs typeface="+mj-lt"/>
                <a:sym typeface="+mn-ea"/>
              </a:rPr>
              <a:t>Extension: XGBoost &amp; SHAP</a:t>
            </a:r>
            <a:endParaRPr lang="en-US" altLang="zh-CN">
              <a:cs typeface="+mj-lt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4805" y="1195705"/>
            <a:ext cx="1168146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latin typeface="+mj-lt"/>
                <a:cs typeface="+mj-lt"/>
                <a:sym typeface="+mn-ea"/>
              </a:rPr>
              <a:t>XGBoost</a:t>
            </a:r>
            <a:r>
              <a:rPr sz="2800" b="1">
                <a:latin typeface="+mj-lt"/>
                <a:cs typeface="+mj-lt"/>
                <a:sym typeface="+mn-ea"/>
              </a:rPr>
              <a:t>:</a:t>
            </a:r>
            <a:r>
              <a:rPr lang="en-US" sz="2800">
                <a:latin typeface="+mj-lt"/>
                <a:cs typeface="+mj-lt"/>
                <a:sym typeface="+mn-ea"/>
              </a:rPr>
              <a:t> An efficient gradient boosting decision tree algorithm.</a:t>
            </a:r>
            <a:endParaRPr lang="en-US" sz="2800">
              <a:latin typeface="+mj-lt"/>
              <a:cs typeface="+mj-lt"/>
              <a:sym typeface="+mn-ea"/>
            </a:endParaRPr>
          </a:p>
          <a:p>
            <a:r>
              <a:rPr sz="2800">
                <a:latin typeface="+mj-lt"/>
                <a:cs typeface="+mj-lt"/>
                <a:sym typeface="+mn-ea"/>
              </a:rPr>
              <a:t>• </a:t>
            </a:r>
            <a:r>
              <a:rPr lang="en-US" sz="2800">
                <a:latin typeface="+mj-lt"/>
                <a:cs typeface="+mj-lt"/>
                <a:sym typeface="+mn-ea"/>
              </a:rPr>
              <a:t>P</a:t>
            </a:r>
            <a:r>
              <a:rPr sz="2800">
                <a:latin typeface="+mj-lt"/>
                <a:cs typeface="+mj-lt"/>
                <a:sym typeface="+mn-ea"/>
              </a:rPr>
              <a:t>erforms well on structured data, demonstrates strong generalization ability.</a:t>
            </a:r>
            <a:endParaRPr sz="2800">
              <a:latin typeface="+mj-lt"/>
              <a:cs typeface="+mj-lt"/>
              <a:sym typeface="+mn-ea"/>
            </a:endParaRPr>
          </a:p>
          <a:p>
            <a:r>
              <a:rPr sz="2800">
                <a:latin typeface="+mj-lt"/>
                <a:cs typeface="+mj-lt"/>
                <a:sym typeface="+mn-ea"/>
              </a:rPr>
              <a:t>• Random Forest uses a bagging approach, XGBoost adopts a boosting strategy</a:t>
            </a:r>
            <a:r>
              <a:rPr lang="en-US" sz="2800">
                <a:latin typeface="+mj-lt"/>
                <a:cs typeface="+mj-lt"/>
                <a:sym typeface="+mn-ea"/>
              </a:rPr>
              <a:t> which</a:t>
            </a:r>
            <a:r>
              <a:rPr sz="2800">
                <a:latin typeface="+mj-lt"/>
                <a:cs typeface="+mj-lt"/>
                <a:sym typeface="+mn-ea"/>
              </a:rPr>
              <a:t> achieves higher accuracy.</a:t>
            </a:r>
            <a:endParaRPr sz="2800">
              <a:latin typeface="+mj-lt"/>
              <a:cs typeface="+mj-lt"/>
              <a:sym typeface="+mn-ea"/>
            </a:endParaRPr>
          </a:p>
          <a:p>
            <a:endParaRPr lang="zh-CN" altLang="en-US" sz="2800">
              <a:latin typeface="+mj-lt"/>
              <a:cs typeface="+mj-lt"/>
            </a:endParaRPr>
          </a:p>
          <a:p>
            <a:endParaRPr lang="zh-CN" altLang="en-US" sz="2800" b="1">
              <a:latin typeface="+mj-lt"/>
              <a:cs typeface="+mj-lt"/>
            </a:endParaRPr>
          </a:p>
          <a:p>
            <a:r>
              <a:rPr lang="en-US" sz="2800" b="1">
                <a:latin typeface="+mj-lt"/>
                <a:cs typeface="+mj-lt"/>
                <a:sym typeface="+mn-ea"/>
              </a:rPr>
              <a:t>SHAP (SHapley Additive exPlanations)</a:t>
            </a:r>
            <a:r>
              <a:rPr sz="2800" b="1">
                <a:latin typeface="+mj-lt"/>
                <a:cs typeface="+mj-lt"/>
                <a:sym typeface="+mn-ea"/>
              </a:rPr>
              <a:t>:</a:t>
            </a:r>
            <a:r>
              <a:rPr lang="en-US" sz="2800">
                <a:latin typeface="+mj-lt"/>
                <a:cs typeface="+mj-lt"/>
                <a:sym typeface="+mn-ea"/>
              </a:rPr>
              <a:t> </a:t>
            </a:r>
            <a:endParaRPr sz="2800">
              <a:latin typeface="+mj-lt"/>
              <a:cs typeface="+mj-lt"/>
              <a:sym typeface="+mn-ea"/>
            </a:endParaRPr>
          </a:p>
          <a:p>
            <a:r>
              <a:rPr sz="2800">
                <a:latin typeface="+mj-lt"/>
                <a:cs typeface="+mj-lt"/>
                <a:sym typeface="+mn-ea"/>
              </a:rPr>
              <a:t>• a game theory–based interpretability method designed to explain the output of machine learning models.</a:t>
            </a:r>
            <a:endParaRPr sz="2800">
              <a:latin typeface="+mj-lt"/>
              <a:cs typeface="+mj-lt"/>
              <a:sym typeface="+mn-ea"/>
            </a:endParaRPr>
          </a:p>
          <a:p>
            <a:r>
              <a:rPr sz="2800">
                <a:latin typeface="+mj-lt"/>
                <a:cs typeface="+mj-lt"/>
                <a:sym typeface="+mn-ea"/>
              </a:rPr>
              <a:t>• </a:t>
            </a:r>
            <a:r>
              <a:rPr lang="en-US" sz="2800">
                <a:latin typeface="+mj-lt"/>
                <a:cs typeface="+mj-lt"/>
                <a:sym typeface="+mn-ea"/>
              </a:rPr>
              <a:t>P</a:t>
            </a:r>
            <a:r>
              <a:rPr sz="2800">
                <a:latin typeface="+mj-lt"/>
                <a:cs typeface="+mj-lt"/>
                <a:sym typeface="+mn-ea"/>
              </a:rPr>
              <a:t>rovides a grounded measure of feature importance, </a:t>
            </a:r>
            <a:r>
              <a:rPr lang="en-US" sz="2800">
                <a:latin typeface="+mj-lt"/>
                <a:cs typeface="+mj-lt"/>
                <a:sym typeface="+mn-ea"/>
              </a:rPr>
              <a:t>and explains</a:t>
            </a:r>
            <a:r>
              <a:rPr sz="2800">
                <a:latin typeface="+mj-lt"/>
                <a:cs typeface="+mj-lt"/>
                <a:sym typeface="+mn-ea"/>
              </a:rPr>
              <a:t> model behavior</a:t>
            </a:r>
            <a:r>
              <a:rPr lang="en-US" sz="2800">
                <a:latin typeface="+mj-lt"/>
                <a:cs typeface="+mj-lt"/>
                <a:sym typeface="+mn-ea"/>
              </a:rPr>
              <a:t>.</a:t>
            </a:r>
            <a:endParaRPr sz="2800">
              <a:latin typeface="+mj-lt"/>
              <a:cs typeface="+mj-lt"/>
              <a:sym typeface="+mn-ea"/>
            </a:endParaRPr>
          </a:p>
          <a:p>
            <a:endParaRPr lang="zh-CN" altLang="en-US" sz="2800">
              <a:latin typeface="+mj-lt"/>
              <a:cs typeface="+mj-lt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>
                <a:sym typeface="+mn-ea"/>
              </a:rPr>
              <a:t>Technology Stack &amp; Data</a:t>
            </a:r>
            <a:endParaRPr lang="en-US" altLang="zh-CN">
              <a:latin typeface="Baloo Bhaijaan" panose="03080902040302020200" charset="0"/>
              <a:cs typeface="Baloo Bhaijaan" panose="03080902040302020200" charset="0"/>
              <a:sym typeface="+mn-ea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21665" y="1536700"/>
            <a:ext cx="4824095" cy="408813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300">
              <a:sym typeface="+mn-ea"/>
            </a:endParaRPr>
          </a:p>
          <a:p>
            <a:r>
              <a:rPr lang="en-US" altLang="zh-CN" sz="1300">
                <a:sym typeface="+mn-ea"/>
              </a:rPr>
              <a:t> </a:t>
            </a:r>
            <a:r>
              <a:rPr lang="en-US" altLang="zh-CN" sz="1900">
                <a:latin typeface="+mj-lt"/>
                <a:cs typeface="+mj-lt"/>
                <a:sym typeface="+mn-ea"/>
              </a:rPr>
              <a:t>Core Libraries: </a:t>
            </a:r>
            <a:r>
              <a:rPr lang="en-US" sz="1900">
                <a:solidFill>
                  <a:schemeClr val="bg1"/>
                </a:solidFill>
                <a:latin typeface="+mj-lt"/>
                <a:ea typeface="+mn-ea"/>
                <a:cs typeface="+mj-lt"/>
                <a:sym typeface="+mn-ea"/>
              </a:rPr>
              <a:t>(Python)</a:t>
            </a:r>
            <a:endParaRPr sz="1900">
              <a:solidFill>
                <a:schemeClr val="bg1"/>
              </a:solidFill>
              <a:latin typeface="+mj-lt"/>
              <a:ea typeface="+mn-ea"/>
              <a:cs typeface="+mj-lt"/>
              <a:sym typeface="+mn-ea"/>
            </a:endParaRPr>
          </a:p>
          <a:p>
            <a:r>
              <a:rPr sz="1900">
                <a:solidFill>
                  <a:schemeClr val="bg1"/>
                </a:solidFill>
                <a:latin typeface="+mj-lt"/>
                <a:ea typeface="+mn-ea"/>
                <a:cs typeface="+mj-lt"/>
                <a:sym typeface="+mn-ea"/>
              </a:rPr>
              <a:t>• pandas, numpy – data processing</a:t>
            </a:r>
            <a:endParaRPr sz="1900">
              <a:solidFill>
                <a:schemeClr val="bg1"/>
              </a:solidFill>
              <a:latin typeface="+mj-lt"/>
              <a:ea typeface="+mn-ea"/>
              <a:cs typeface="+mj-lt"/>
              <a:sym typeface="+mn-ea"/>
            </a:endParaRPr>
          </a:p>
          <a:p>
            <a:r>
              <a:rPr sz="1900">
                <a:solidFill>
                  <a:schemeClr val="bg1"/>
                </a:solidFill>
                <a:latin typeface="+mj-lt"/>
                <a:ea typeface="+mn-ea"/>
                <a:cs typeface="+mj-lt"/>
                <a:sym typeface="+mn-ea"/>
              </a:rPr>
              <a:t>• scikit-learn – ML models, cross-validation</a:t>
            </a:r>
            <a:endParaRPr sz="1900">
              <a:solidFill>
                <a:schemeClr val="bg1"/>
              </a:solidFill>
              <a:latin typeface="+mj-lt"/>
              <a:ea typeface="+mn-ea"/>
              <a:cs typeface="+mj-lt"/>
              <a:sym typeface="+mn-ea"/>
            </a:endParaRPr>
          </a:p>
          <a:p>
            <a:r>
              <a:rPr sz="1900">
                <a:solidFill>
                  <a:schemeClr val="bg1"/>
                </a:solidFill>
                <a:latin typeface="+mj-lt"/>
                <a:ea typeface="+mn-ea"/>
                <a:cs typeface="+mj-lt"/>
                <a:sym typeface="+mn-ea"/>
              </a:rPr>
              <a:t>• XGBoost – gradient boosting</a:t>
            </a:r>
            <a:endParaRPr sz="1900">
              <a:solidFill>
                <a:schemeClr val="bg1"/>
              </a:solidFill>
              <a:latin typeface="+mj-lt"/>
              <a:ea typeface="+mn-ea"/>
              <a:cs typeface="+mj-lt"/>
              <a:sym typeface="+mn-ea"/>
            </a:endParaRPr>
          </a:p>
          <a:p>
            <a:r>
              <a:rPr sz="1900">
                <a:solidFill>
                  <a:schemeClr val="bg1"/>
                </a:solidFill>
                <a:latin typeface="+mj-lt"/>
                <a:ea typeface="+mn-ea"/>
                <a:cs typeface="+mj-lt"/>
                <a:sym typeface="+mn-ea"/>
              </a:rPr>
              <a:t>• SHAP – interpretability</a:t>
            </a:r>
            <a:endParaRPr sz="1900">
              <a:solidFill>
                <a:schemeClr val="bg1"/>
              </a:solidFill>
              <a:latin typeface="+mj-lt"/>
              <a:ea typeface="+mn-ea"/>
              <a:cs typeface="+mj-lt"/>
              <a:sym typeface="+mn-ea"/>
            </a:endParaRPr>
          </a:p>
          <a:p>
            <a:r>
              <a:rPr sz="1900">
                <a:solidFill>
                  <a:schemeClr val="bg1"/>
                </a:solidFill>
                <a:latin typeface="+mj-lt"/>
                <a:ea typeface="+mn-ea"/>
                <a:cs typeface="+mj-lt"/>
                <a:sym typeface="+mn-ea"/>
              </a:rPr>
              <a:t>• matplotlib, seaborn – visualization</a:t>
            </a:r>
            <a:endParaRPr sz="1900">
              <a:solidFill>
                <a:sysClr val="windowText" lastClr="000000"/>
              </a:solidFill>
              <a:latin typeface="+mj-lt"/>
              <a:ea typeface="+mn-ea"/>
              <a:cs typeface="+mj-lt"/>
              <a:sym typeface="+mn-ea"/>
            </a:endParaRPr>
          </a:p>
          <a:p>
            <a:r>
              <a:rPr lang="en-US" altLang="zh-CN" sz="1900">
                <a:latin typeface="+mj-lt"/>
                <a:cs typeface="+mj-lt"/>
                <a:sym typeface="+mn-ea"/>
              </a:rPr>
              <a:t> </a:t>
            </a:r>
            <a:endParaRPr lang="en-US" altLang="zh-CN" sz="1900">
              <a:latin typeface="+mj-lt"/>
              <a:cs typeface="+mj-lt"/>
              <a:sym typeface="+mn-ea"/>
            </a:endParaRPr>
          </a:p>
        </p:txBody>
      </p:sp>
      <p:sp>
        <p:nvSpPr>
          <p:cNvPr id="6" name="文本占位符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63715" y="1654810"/>
            <a:ext cx="4824095" cy="408813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300">
              <a:sym typeface="+mn-ea"/>
            </a:endParaRPr>
          </a:p>
          <a:p>
            <a:r>
              <a:rPr lang="en-US" altLang="zh-CN" sz="1300">
                <a:sym typeface="+mn-ea"/>
              </a:rPr>
              <a:t> </a:t>
            </a:r>
            <a:r>
              <a:rPr sz="1900">
                <a:solidFill>
                  <a:schemeClr val="bg1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Data Source:</a:t>
            </a:r>
            <a:endParaRPr sz="1900">
              <a:solidFill>
                <a:schemeClr val="bg1"/>
              </a:solidFill>
              <a:latin typeface="Calibri" panose="020F0502020204030204" charset="0"/>
              <a:ea typeface="+mn-ea"/>
              <a:cs typeface="+mn-ea"/>
              <a:sym typeface="+mn-ea"/>
            </a:endParaRPr>
          </a:p>
          <a:p>
            <a:r>
              <a:rPr sz="1900">
                <a:solidFill>
                  <a:schemeClr val="bg1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• </a:t>
            </a:r>
            <a:r>
              <a:rPr lang="en-US" altLang="zh-CN" sz="1900">
                <a:solidFill>
                  <a:schemeClr val="bg1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follows the original paper by adopting the SmartSHARK 2.1 dataset</a:t>
            </a:r>
            <a:endParaRPr lang="en-US" altLang="zh-CN" sz="1900">
              <a:solidFill>
                <a:schemeClr val="bg1"/>
              </a:solidFill>
              <a:latin typeface="Calibri" panose="020F0502020204030204" charset="0"/>
              <a:ea typeface="+mn-ea"/>
              <a:cs typeface="+mn-ea"/>
              <a:sym typeface="+mn-ea"/>
            </a:endParaRPr>
          </a:p>
          <a:p>
            <a:r>
              <a:rPr sz="1900">
                <a:solidFill>
                  <a:schemeClr val="bg1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• The replication package from the original study</a:t>
            </a:r>
            <a:r>
              <a:rPr lang="en-US" altLang="zh-CN" sz="1900">
                <a:solidFill>
                  <a:schemeClr val="bg1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sz="1900">
                <a:solidFill>
                  <a:schemeClr val="bg1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was downloaded, included preprocessing scripts rather than a finalized dataset.</a:t>
            </a:r>
            <a:endParaRPr sz="1900">
              <a:solidFill>
                <a:schemeClr val="bg1"/>
              </a:solidFill>
              <a:latin typeface="Calibri" panose="020F0502020204030204" charset="0"/>
              <a:ea typeface="+mn-ea"/>
              <a:cs typeface="+mn-ea"/>
              <a:sym typeface="+mn-ea"/>
            </a:endParaRPr>
          </a:p>
          <a:p>
            <a:endParaRPr lang="en-US" altLang="zh-CN" sz="1900">
              <a:solidFill>
                <a:schemeClr val="bg1"/>
              </a:solidFill>
              <a:latin typeface="Calibri" panose="020F0502020204030204" charset="0"/>
              <a:ea typeface="+mn-ea"/>
              <a:cs typeface="+mn-ea"/>
              <a:sym typeface="+mn-ea"/>
            </a:endParaRPr>
          </a:p>
          <a:p>
            <a:r>
              <a:rPr lang="en-US" altLang="zh-CN" sz="1900">
                <a:latin typeface="+mj-lt"/>
                <a:cs typeface="+mj-lt"/>
                <a:sym typeface="+mn-ea"/>
              </a:rPr>
              <a:t> </a:t>
            </a:r>
            <a:endParaRPr lang="en-US" altLang="zh-CN" sz="1900">
              <a:latin typeface="+mj-lt"/>
              <a:cs typeface="+mj-lt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  <p:bldP spid="5" grpId="1" animBg="1" build="p"/>
      <p:bldP spid="6" grpId="1" animBg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>
                <a:sym typeface="+mn-ea"/>
              </a:rPr>
              <a:t>Evaluation &amp; Success Criteria</a:t>
            </a:r>
            <a:endParaRPr lang="en-US" altLang="zh-CN">
              <a:latin typeface="Baloo Bhaijaan" panose="03080902040302020200" charset="0"/>
              <a:cs typeface="Baloo Bhaijaan" panose="030809020403020202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4805" y="1179830"/>
            <a:ext cx="1117854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3200" b="1">
                <a:latin typeface="+mj-lt"/>
                <a:cs typeface="+mj-lt"/>
                <a:sym typeface="+mn-ea"/>
              </a:rPr>
              <a:t>Evaluation Metrics:</a:t>
            </a:r>
            <a:endParaRPr sz="3200" b="1">
              <a:latin typeface="+mj-lt"/>
              <a:cs typeface="+mj-lt"/>
              <a:sym typeface="+mn-ea"/>
            </a:endParaRPr>
          </a:p>
          <a:p>
            <a:r>
              <a:rPr sz="3200" b="1">
                <a:latin typeface="+mj-lt"/>
                <a:cs typeface="+mj-lt"/>
                <a:sym typeface="+mn-ea"/>
              </a:rPr>
              <a:t>• AUC (primary), F1-Score, Precision, Recall</a:t>
            </a:r>
            <a:r>
              <a:rPr lang="en-US" sz="3200" b="1">
                <a:latin typeface="+mj-lt"/>
                <a:cs typeface="+mj-lt"/>
                <a:sym typeface="+mn-ea"/>
              </a:rPr>
              <a:t>.</a:t>
            </a:r>
            <a:endParaRPr sz="3200" b="1">
              <a:latin typeface="+mj-lt"/>
              <a:cs typeface="+mj-lt"/>
              <a:sym typeface="+mn-ea"/>
            </a:endParaRPr>
          </a:p>
          <a:p>
            <a:r>
              <a:rPr sz="3200" b="1">
                <a:latin typeface="+mj-lt"/>
                <a:cs typeface="+mj-lt"/>
                <a:sym typeface="+mn-ea"/>
              </a:rPr>
              <a:t>• 10-fold cross-validation for robustness.</a:t>
            </a:r>
            <a:r>
              <a:rPr lang="en-US" sz="3200" b="1">
                <a:latin typeface="+mj-lt"/>
                <a:cs typeface="+mj-lt"/>
                <a:sym typeface="+mn-ea"/>
              </a:rPr>
              <a:t> </a:t>
            </a:r>
            <a:endParaRPr sz="3200" b="1">
              <a:latin typeface="+mj-lt"/>
              <a:cs typeface="+mj-lt"/>
              <a:sym typeface="+mn-ea"/>
            </a:endParaRPr>
          </a:p>
          <a:p>
            <a:endParaRPr lang="zh-CN" altLang="en-US" sz="3200" b="1">
              <a:latin typeface="+mj-lt"/>
              <a:cs typeface="+mj-lt"/>
            </a:endParaRPr>
          </a:p>
          <a:p>
            <a:endParaRPr lang="zh-CN" altLang="en-US" sz="3200" b="1">
              <a:latin typeface="+mj-lt"/>
              <a:cs typeface="+mj-lt"/>
            </a:endParaRPr>
          </a:p>
          <a:p>
            <a:r>
              <a:rPr sz="3200" b="1">
                <a:latin typeface="+mj-lt"/>
                <a:cs typeface="+mj-lt"/>
                <a:sym typeface="+mn-ea"/>
              </a:rPr>
              <a:t>Success Criteria:</a:t>
            </a:r>
            <a:endParaRPr sz="3200" b="1">
              <a:latin typeface="+mj-lt"/>
              <a:cs typeface="+mj-lt"/>
              <a:sym typeface="+mn-ea"/>
            </a:endParaRPr>
          </a:p>
          <a:p>
            <a:r>
              <a:rPr sz="3200" b="1">
                <a:latin typeface="+mj-lt"/>
                <a:cs typeface="+mj-lt"/>
                <a:sym typeface="+mn-ea"/>
              </a:rPr>
              <a:t>• Successful Replication: Similar RQ1 stats and RF performance.</a:t>
            </a:r>
            <a:endParaRPr sz="3200" b="1">
              <a:latin typeface="+mj-lt"/>
              <a:cs typeface="+mj-lt"/>
              <a:sym typeface="+mn-ea"/>
            </a:endParaRPr>
          </a:p>
          <a:p>
            <a:r>
              <a:rPr sz="3200" b="1">
                <a:latin typeface="+mj-lt"/>
                <a:cs typeface="+mj-lt"/>
                <a:sym typeface="+mn-ea"/>
              </a:rPr>
              <a:t>• Model Improvement: XGBoost improves</a:t>
            </a:r>
            <a:r>
              <a:rPr lang="en-US" sz="3200" b="1">
                <a:latin typeface="+mj-lt"/>
                <a:cs typeface="+mj-lt"/>
                <a:sym typeface="+mn-ea"/>
              </a:rPr>
              <a:t> or decreased</a:t>
            </a:r>
            <a:r>
              <a:rPr sz="3200" b="1">
                <a:latin typeface="+mj-lt"/>
                <a:cs typeface="+mj-lt"/>
                <a:sym typeface="+mn-ea"/>
              </a:rPr>
              <a:t> AUC/F1 significantly</a:t>
            </a:r>
            <a:r>
              <a:rPr lang="en-US" sz="3200" b="1">
                <a:latin typeface="+mj-lt"/>
                <a:cs typeface="+mj-lt"/>
                <a:sym typeface="+mn-ea"/>
              </a:rPr>
              <a:t> compared to RF</a:t>
            </a:r>
            <a:r>
              <a:rPr sz="3200" b="1">
                <a:latin typeface="+mj-lt"/>
                <a:cs typeface="+mj-lt"/>
                <a:sym typeface="+mn-ea"/>
              </a:rPr>
              <a:t>.</a:t>
            </a:r>
            <a:endParaRPr sz="3200" b="1">
              <a:latin typeface="+mj-lt"/>
              <a:cs typeface="+mj-lt"/>
              <a:sym typeface="+mn-ea"/>
            </a:endParaRPr>
          </a:p>
          <a:p>
            <a:r>
              <a:rPr sz="3200" b="1">
                <a:latin typeface="+mj-lt"/>
                <a:cs typeface="+mj-lt"/>
                <a:sym typeface="+mn-ea"/>
              </a:rPr>
              <a:t>• Deeper Insights: SHAP gives clear feature importance ranking.</a:t>
            </a:r>
            <a:endParaRPr lang="zh-CN" altLang="en-US" sz="3200" b="1">
              <a:latin typeface="+mj-lt"/>
              <a:cs typeface="+mj-lt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en-US" altLang="zh-CN">
                <a:sym typeface="+mn-ea"/>
              </a:rPr>
              <a:t>Replication of RQ1</a:t>
            </a:r>
            <a:endParaRPr lang="en-US" altLang="zh-CN">
              <a:latin typeface="Baloo Bhaijaan" panose="03080902040302020200" charset="0"/>
              <a:cs typeface="Baloo Bhaijaan" panose="03080902040302020200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98550"/>
            <a:ext cx="5457825" cy="5271770"/>
          </a:xfrm>
        </p:spPr>
        <p:txBody>
          <a:bodyPr>
            <a:normAutofit fontScale="80000"/>
          </a:bodyPr>
          <a:p>
            <a:r>
              <a:rPr lang="en-US" sz="3200" b="1"/>
              <a:t>Production-only refactorings-73.72%, co-occurring refactorings-17.96%, and test-only refactorings-8.32%.</a:t>
            </a:r>
            <a:endParaRPr lang="en-US" sz="3200" b="1"/>
          </a:p>
          <a:p>
            <a:endParaRPr lang="en-US" sz="3200" b="1"/>
          </a:p>
          <a:p>
            <a:r>
              <a:rPr lang="en-US" sz="3200" b="1"/>
              <a:t>Replicated distribution closely aligns with the results reported in the original paper.</a:t>
            </a:r>
            <a:endParaRPr lang="en-US" sz="3200" b="1"/>
          </a:p>
          <a:p>
            <a:endParaRPr lang="en-US" sz="3200" b="1"/>
          </a:p>
          <a:p>
            <a:r>
              <a:rPr lang="en-US" sz="3200" b="1"/>
              <a:t>Change Variable Type, Move Class,and Rename Method are the most frequent refactoring operations, consistent with the findings of the original study.</a:t>
            </a:r>
            <a:endParaRPr lang="en-US" sz="3200" b="1"/>
          </a:p>
          <a:p>
            <a:endParaRPr lang="en-US" sz="32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175" y="2600325"/>
            <a:ext cx="6796405" cy="11798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480" y="1098550"/>
            <a:ext cx="6642100" cy="11703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85" y="3977005"/>
            <a:ext cx="4449445" cy="27451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en-US" altLang="zh-CN">
                <a:sym typeface="+mn-ea"/>
              </a:rPr>
              <a:t>Replication of RQ2</a:t>
            </a:r>
            <a:endParaRPr lang="en-US" altLang="zh-CN">
              <a:latin typeface="Baloo Bhaijaan" panose="03080902040302020200" charset="0"/>
              <a:cs typeface="Baloo Bhaijaan" panose="03080902040302020200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465" y="1098550"/>
            <a:ext cx="6095365" cy="233045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sz="3200" b="1"/>
              <a:t>RF baseline achieved an average AUC of 0.7447 across 10 projects, closely matching the original study's range of 0.74-0.75</a:t>
            </a:r>
            <a:endParaRPr lang="en-US" sz="3200" b="1"/>
          </a:p>
          <a:p>
            <a:endParaRPr lang="en-US" sz="3200" b="1"/>
          </a:p>
          <a:p>
            <a:endParaRPr lang="en-US" sz="32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065" y="1098550"/>
            <a:ext cx="5907405" cy="1609725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/>
        </p:nvSpPr>
        <p:spPr>
          <a:xfrm>
            <a:off x="6259830" y="2988310"/>
            <a:ext cx="5883910" cy="52717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>
                <a:sym typeface="+mn-ea"/>
              </a:rPr>
              <a:t>Performance varied significantly by project: </a:t>
            </a:r>
            <a:r>
              <a:rPr lang="en-US" sz="3200" b="1">
                <a:sym typeface="+mn-ea"/>
              </a:rPr>
              <a:t>Phoenix-exceptional performance (AUC: 0.9222), ActiveMQ-lower predictability (AUC: 0.6660).</a:t>
            </a:r>
            <a:endParaRPr lang="en-US" sz="3200" b="1"/>
          </a:p>
          <a:p>
            <a:r>
              <a:rPr lang="en-US" sz="3200" b="1">
                <a:sym typeface="+mn-ea"/>
              </a:rPr>
              <a:t>The model shows consistent performance across metrics with F1-score: 0.6437, Precision: 0.7061, and Recall: 0.6048.</a:t>
            </a:r>
            <a:endParaRPr lang="en-US" sz="3200" b="1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" y="3535680"/>
            <a:ext cx="6129020" cy="21126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en-US" altLang="zh-CN">
                <a:sym typeface="+mn-ea"/>
              </a:rPr>
              <a:t>Expansion: Model Comparison</a:t>
            </a:r>
            <a:endParaRPr lang="en-US" altLang="zh-CN">
              <a:latin typeface="Baloo Bhaijaan" panose="03080902040302020200" charset="0"/>
              <a:cs typeface="Baloo Bhaijaan" panose="03080902040302020200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5415" y="1010920"/>
            <a:ext cx="5939155" cy="233045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sz="3200" b="1"/>
              <a:t>Random Forest significantly outperformed XGBoost (AUC: 0.7412 vs 0.7217, F1: 0.6380 vs 0.6055).</a:t>
            </a:r>
            <a:endParaRPr lang="en-US" sz="3200" b="1"/>
          </a:p>
          <a:p>
            <a:endParaRPr lang="en-US" sz="3200" b="1"/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199390" y="3429000"/>
            <a:ext cx="5457825" cy="5271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/>
              <a:t>Statistical Significance Test:</a:t>
            </a:r>
            <a:endParaRPr lang="en-US" sz="3200" b="1"/>
          </a:p>
          <a:p>
            <a:r>
              <a:rPr lang="en-US" sz="3200" b="1"/>
              <a:t>t-value: 3.6281</a:t>
            </a:r>
            <a:endParaRPr lang="en-US" sz="3200" b="1"/>
          </a:p>
          <a:p>
            <a:r>
              <a:rPr lang="en-US" sz="3200" b="1"/>
              <a:t>p-value: 0.0055&lt;0.05</a:t>
            </a:r>
            <a:endParaRPr lang="en-US" sz="3200" b="1"/>
          </a:p>
          <a:p>
            <a:pPr marL="0" indent="0">
              <a:buNone/>
            </a:pPr>
            <a:r>
              <a:rPr lang="en-US" sz="3200" b="1"/>
              <a:t>=&gt;Performance difference is significant.</a:t>
            </a:r>
            <a:endParaRPr lang="en-US" sz="3200" b="1"/>
          </a:p>
          <a:p>
            <a:endParaRPr lang="en-US" sz="3200" b="1"/>
          </a:p>
          <a:p>
            <a:endParaRPr lang="en-US" sz="3200" b="1"/>
          </a:p>
          <a:p>
            <a:endParaRPr lang="en-US" sz="32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165"/>
            <a:ext cx="6130925" cy="882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210" y="3429635"/>
            <a:ext cx="5703570" cy="23799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en-US" altLang="zh-CN">
                <a:sym typeface="+mn-ea"/>
              </a:rPr>
              <a:t>Expansion: Feature Importance</a:t>
            </a:r>
            <a:endParaRPr lang="en-US" altLang="zh-CN">
              <a:latin typeface="Baloo Bhaijaan" panose="03080902040302020200" charset="0"/>
              <a:cs typeface="Baloo Bhaijaan" panose="03080902040302020200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030" y="4717415"/>
            <a:ext cx="11203940" cy="1817370"/>
          </a:xfrm>
        </p:spPr>
        <p:txBody>
          <a:bodyPr>
            <a:normAutofit fontScale="90000"/>
          </a:bodyPr>
          <a:p>
            <a:r>
              <a:rPr lang="en-US" sz="2400" b="1"/>
              <a:t>Both models identify TYPE_DECLARATION as important, highlighting the role of type-level refactorings in triggering synchronized test code changes.</a:t>
            </a:r>
            <a:endParaRPr lang="en-US" sz="2400" b="1"/>
          </a:p>
          <a:p>
            <a:r>
              <a:rPr lang="en-US" sz="2400" b="1"/>
              <a:t>XGBoost focuses on code structure (TYPE_DECLARATION) and developer experience, indicating it captures complex code semantics. RF shows a more balanced use of features, including refactoring scale (# of files) and code elements (SINGLE_VARIABLE_DECLARATION).</a:t>
            </a:r>
            <a:endParaRPr lang="en-US" sz="2400" b="1"/>
          </a:p>
          <a:p>
            <a:endParaRPr lang="en-US" sz="2400" b="1"/>
          </a:p>
        </p:txBody>
      </p:sp>
      <p:pic>
        <p:nvPicPr>
          <p:cNvPr id="4" name="图片 3" descr="shap_feature_importance_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5" y="953770"/>
            <a:ext cx="10537825" cy="37636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en-US" altLang="zh-CN">
                <a:sym typeface="+mn-ea"/>
              </a:rPr>
              <a:t>Conclusion &amp; Discussion points</a:t>
            </a:r>
            <a:endParaRPr lang="en-US" altLang="zh-CN">
              <a:sym typeface="+mn-ea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43840" y="1429385"/>
            <a:ext cx="5376545" cy="18345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900">
                <a:sym typeface="+mn-ea"/>
              </a:rPr>
              <a:t>Replication confirms that co-occurring refactoring is a stable phenomenon in software development, not an artifact of specific datasets.</a:t>
            </a:r>
            <a:endParaRPr sz="1900">
              <a:sym typeface="+mn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243955" y="1429385"/>
            <a:ext cx="5647690" cy="18345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900">
                <a:sym typeface="+mn-ea"/>
              </a:rPr>
              <a:t>Random Forest outperforms XGBoost in this task, showing that advanced models do not always guarantee better performance.</a:t>
            </a:r>
            <a:r>
              <a:rPr lang="en-US" altLang="zh-CN" sz="1900">
                <a:latin typeface="+mj-lt"/>
                <a:cs typeface="+mj-lt"/>
                <a:sym typeface="+mn-ea"/>
              </a:rPr>
              <a:t> </a:t>
            </a:r>
            <a:endParaRPr lang="en-US" altLang="zh-CN" sz="1900">
              <a:latin typeface="+mj-lt"/>
              <a:cs typeface="+mj-lt"/>
              <a:sym typeface="+mn-ea"/>
            </a:endParaRPr>
          </a:p>
        </p:txBody>
      </p:sp>
      <p:sp>
        <p:nvSpPr>
          <p:cNvPr id="3" name="文本占位符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900045" y="4182110"/>
            <a:ext cx="6092190" cy="18345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900">
                <a:sym typeface="+mn-ea"/>
              </a:rPr>
              <a:t>File history, refactoring scale, and developer experience are key predictive features</a:t>
            </a:r>
            <a:r>
              <a:rPr lang="en-US" altLang="zh-CN" sz="1900">
                <a:sym typeface="+mn-ea"/>
              </a:rPr>
              <a:t> in SHAP</a:t>
            </a:r>
            <a:r>
              <a:rPr sz="1900">
                <a:sym typeface="+mn-ea"/>
              </a:rPr>
              <a:t>; intelligent tools should focus on these dimensions.</a:t>
            </a:r>
            <a:endParaRPr sz="190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  <p:bldP spid="5" grpId="1" animBg="1" build="p"/>
      <p:bldP spid="2" grpId="1" animBg="1" build="p"/>
      <p:bldP spid="3" grpId="1" animBg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4805" y="234950"/>
            <a:ext cx="10626090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 smtClean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en-US" altLang="zh-CN">
                <a:sym typeface="+mn-ea"/>
              </a:rPr>
              <a:t>Limitations &amp; Future Work</a:t>
            </a:r>
            <a:endParaRPr lang="en-US" altLang="zh-CN">
              <a:latin typeface="Baloo Bhaijaan" panose="03080902040302020200" charset="0"/>
              <a:cs typeface="Baloo Bhaijaan" panose="03080902040302020200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1800" y="1175385"/>
            <a:ext cx="11386185" cy="4778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3200" b="1">
                <a:sym typeface="+mn-ea"/>
              </a:rPr>
              <a:t>Limitations</a:t>
            </a:r>
            <a:r>
              <a:rPr sz="3200" b="1">
                <a:sym typeface="+mn-ea"/>
              </a:rPr>
              <a:t>:</a:t>
            </a:r>
            <a:endParaRPr sz="3200" b="1">
              <a:sym typeface="+mn-ea"/>
            </a:endParaRPr>
          </a:p>
          <a:p>
            <a:r>
              <a:rPr sz="3200">
                <a:sym typeface="+mn-ea"/>
              </a:rPr>
              <a:t>• </a:t>
            </a:r>
            <a:r>
              <a:rPr lang="en-US" sz="3200">
                <a:sym typeface="+mn-ea"/>
              </a:rPr>
              <a:t>L</a:t>
            </a:r>
            <a:r>
              <a:rPr sz="3200">
                <a:sym typeface="+mn-ea"/>
              </a:rPr>
              <a:t>anguage scope (Java only)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• </a:t>
            </a:r>
            <a:r>
              <a:rPr lang="en-US" sz="3200">
                <a:sym typeface="+mn-ea"/>
              </a:rPr>
              <a:t>D</a:t>
            </a:r>
            <a:r>
              <a:rPr sz="3200">
                <a:sym typeface="+mn-ea"/>
              </a:rPr>
              <a:t>ata timeliness (historical data)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• </a:t>
            </a:r>
            <a:r>
              <a:rPr lang="en-US" sz="3200">
                <a:sym typeface="+mn-ea"/>
              </a:rPr>
              <a:t>P</a:t>
            </a:r>
            <a:r>
              <a:rPr sz="3200">
                <a:sym typeface="+mn-ea"/>
              </a:rPr>
              <a:t>otential for further parameter tuning of XGBoost.</a:t>
            </a:r>
            <a:endParaRPr sz="3200">
              <a:sym typeface="+mn-ea"/>
            </a:endParaRPr>
          </a:p>
          <a:p>
            <a:endParaRPr sz="3200">
              <a:sym typeface="+mn-ea"/>
            </a:endParaRPr>
          </a:p>
          <a:p>
            <a:r>
              <a:rPr lang="en-US" sz="3200" b="1">
                <a:sym typeface="+mn-ea"/>
              </a:rPr>
              <a:t>Future Work</a:t>
            </a:r>
            <a:r>
              <a:rPr sz="3200" b="1">
                <a:sym typeface="+mn-ea"/>
              </a:rPr>
              <a:t>:</a:t>
            </a:r>
            <a:endParaRPr sz="3200" b="1">
              <a:sym typeface="+mn-ea"/>
            </a:endParaRPr>
          </a:p>
          <a:p>
            <a:r>
              <a:rPr sz="3200">
                <a:sym typeface="+mn-ea"/>
              </a:rPr>
              <a:t>• </a:t>
            </a:r>
            <a:r>
              <a:rPr lang="en-US" sz="3200">
                <a:sym typeface="+mn-ea"/>
              </a:rPr>
              <a:t>M</a:t>
            </a:r>
            <a:r>
              <a:rPr sz="3200">
                <a:sym typeface="+mn-ea"/>
              </a:rPr>
              <a:t>ulti-language validation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• </a:t>
            </a:r>
            <a:r>
              <a:rPr lang="en-US" sz="3200">
                <a:sym typeface="+mn-ea"/>
              </a:rPr>
              <a:t>C</a:t>
            </a:r>
            <a:r>
              <a:rPr sz="3200">
                <a:sym typeface="+mn-ea"/>
              </a:rPr>
              <a:t>omparing more models (e.g., LightGBM, CatBoost)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• </a:t>
            </a:r>
            <a:r>
              <a:rPr lang="en-US" sz="3200">
                <a:sym typeface="+mn-ea"/>
              </a:rPr>
              <a:t>I</a:t>
            </a:r>
            <a:r>
              <a:rPr sz="3200">
                <a:sym typeface="+mn-ea"/>
              </a:rPr>
              <a:t>nnovative feature engineering based on SHAP insights.</a:t>
            </a:r>
            <a:endParaRPr sz="32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*a*1"/>
  <p:tag name="KSO_WM_TEMPLATE_CATEGORY" val="custom"/>
  <p:tag name="KSO_WM_TEMPLATE_INDEX" val="20230230"/>
  <p:tag name="KSO_WM_UNIT_LAYERLEVEL" val="1"/>
  <p:tag name="KSO_WM_TAG_VERSION" val="3.0"/>
  <p:tag name="KSO_WM_UNIT_CONTENT_GROUP_TYPE" val="contentchip"/>
  <p:tag name="KSO_WM_UNIT_TEXT_TYPE" val="1"/>
  <p:tag name="KSO_WM_UNIT_PRESET_TEXT" val="单击添加文档标题"/>
</p:tagLst>
</file>

<file path=ppt/tags/tag9.xml><?xml version="1.0" encoding="utf-8"?>
<p:tagLst xmlns:p="http://schemas.openxmlformats.org/presentationml/2006/main">
  <p:tag name="KSO_WM_SLIDE_ID" val="custom2023023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30"/>
  <p:tag name="KSO_WM_SLIDE_LAYOUT" val="a_b_f"/>
  <p:tag name="KSO_WM_SLIDE_LAYOUT_CNT" val="1_1_1"/>
  <p:tag name="KSO_WM_TEMPLATE_THUMBS_INDEX" val="1、11"/>
  <p:tag name="KSO_WM_SLIDE_CONTENT_AREA" val="{&quot;left&quot;:&quot;46.45&quot;,&quot;top&quot;:&quot;101.75&quot;,&quot;width&quot;:&quot;613.6&quot;,&quot;height&quot;:&quot;315.15&quot;}"/>
  <p:tag name="KSO_WM_SPECIAL_SOURCE" val="bdnull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11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12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13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15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16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17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18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19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21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23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25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27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28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29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31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33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35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37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39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41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42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43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44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UNIT_CONTENT_GROUP_TYPE" val="titlestyle"/>
  <p:tag name="PA" val="v5.2.11"/>
  <p:tag name="KSO_WM_UNIT_TEXT_TYPE" val="1"/>
  <p:tag name="KSO_WM_UNIT_PRESET_TEXT" val="单击此处添加文档标题"/>
</p:tagLst>
</file>

<file path=ppt/tags/tag46.xml><?xml version="1.0" encoding="utf-8"?>
<p:tagLst xmlns:p="http://schemas.openxmlformats.org/presentationml/2006/main">
  <p:tag name="KSO_WM_SLIDE_ID" val="custom2023023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30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  <p:tag name="KSO_WM_SPECIAL_SOURCE" val="bdnull"/>
</p:tagLst>
</file>

<file path=ppt/tags/tag47.xml><?xml version="1.0" encoding="utf-8"?>
<p:tagLst xmlns:p="http://schemas.openxmlformats.org/presentationml/2006/main">
  <p:tag name="commondata" val="eyJoZGlkIjoiZDk2MjhkOTYzYTU2YjdiNDk1NDM5ZGVlZGRlNjc1YW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5227</Words>
  <Application>WPS 演示</Application>
  <PresentationFormat>宽屏</PresentationFormat>
  <Paragraphs>156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MiSans Heavy</vt:lpstr>
      <vt:lpstr>Chalkduster</vt:lpstr>
      <vt:lpstr>Mongolian Baiti</vt:lpstr>
      <vt:lpstr>Baloo Bhaijaan</vt:lpstr>
      <vt:lpstr>Times New Roman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杨ZYY</dc:creator>
  <cp:lastModifiedBy>y(ang)z(hou)y(i)y(ang)</cp:lastModifiedBy>
  <cp:revision>6</cp:revision>
  <dcterms:created xsi:type="dcterms:W3CDTF">2023-08-09T12:44:00Z</dcterms:created>
  <dcterms:modified xsi:type="dcterms:W3CDTF">2025-11-13T10:30:59Z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DC37F20B1C1544BBB4986FDDDA4F7B09_13</vt:lpwstr>
  </property>
  <property fmtid="{D5CDD505-2E9C-101B-9397-08002B2CF9AE}" pid="3" name="KSOProductBuildVer">
    <vt:lpwstr>2052-12.1.0.17827</vt:lpwstr>
  </property>
</Properties>
</file>